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56" r:id="rId4"/>
    <p:sldId id="302" r:id="rId5"/>
    <p:sldId id="303" r:id="rId6"/>
    <p:sldId id="285" r:id="rId7"/>
    <p:sldId id="286" r:id="rId8"/>
    <p:sldId id="287" r:id="rId9"/>
    <p:sldId id="265" r:id="rId10"/>
    <p:sldId id="284" r:id="rId11"/>
    <p:sldId id="259" r:id="rId12"/>
    <p:sldId id="274" r:id="rId13"/>
    <p:sldId id="275" r:id="rId14"/>
    <p:sldId id="276" r:id="rId15"/>
    <p:sldId id="260" r:id="rId16"/>
    <p:sldId id="267" r:id="rId17"/>
    <p:sldId id="266" r:id="rId18"/>
    <p:sldId id="268" r:id="rId19"/>
    <p:sldId id="261" r:id="rId20"/>
    <p:sldId id="264" r:id="rId21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91a01b-0efb-4981-a8cc-ff94869463e6}">
          <p14:sldIdLst>
            <p14:sldId id="256"/>
            <p14:sldId id="302"/>
            <p14:sldId id="303"/>
            <p14:sldId id="285"/>
            <p14:sldId id="286"/>
            <p14:sldId id="287"/>
            <p14:sldId id="265"/>
            <p14:sldId id="284"/>
            <p14:sldId id="259"/>
            <p14:sldId id="274"/>
            <p14:sldId id="275"/>
            <p14:sldId id="276"/>
            <p14:sldId id="260"/>
            <p14:sldId id="267"/>
          </p14:sldIdLst>
        </p14:section>
        <p14:section name="Untitled Section" id="{d7ab5243-7143-4bbe-920b-0ef4f341f859}">
          <p14:sldIdLst>
            <p14:sldId id="266"/>
            <p14:sldId id="268"/>
            <p14:sldId id="261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58"/>
      </p:cViewPr>
      <p:guideLst>
        <p:guide orient="horz" pos="2152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609480"/>
            <a:ext cx="8000640" cy="57913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80006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0" y="76320"/>
            <a:ext cx="9143640" cy="63241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0948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70880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3633840"/>
            <a:ext cx="799992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80006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09480" y="3633840"/>
            <a:ext cx="80006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70880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8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609480"/>
            <a:ext cx="8000640" cy="57913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80006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0" y="76320"/>
            <a:ext cx="9143640" cy="63241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0948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579096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70880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33840"/>
            <a:ext cx="799992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80006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33840"/>
            <a:ext cx="80006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70880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363384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7200"/>
          </a:xfrm>
          <a:prstGeom prst="rect">
            <a:avLst/>
          </a:prstGeom>
        </p:spPr>
        <p:txBody>
          <a:bodyPr wrap="none" lIns="0" tIns="0" rIns="0" bIns="0" anchor="ctr"/>
          <a:lstStyle/>
          <a:p/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708800" y="609480"/>
            <a:ext cx="3903840" cy="2761920"/>
          </a:xfrm>
          <a:prstGeom prst="rect">
            <a:avLst/>
          </a:prstGeom>
        </p:spPr>
        <p:txBody>
          <a:bodyPr wrap="none" lIns="0" tIns="0" rIns="0" bIns="0"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3640" cy="609120"/>
          </a:xfrm>
          <a:prstGeom prst="rect">
            <a:avLst/>
          </a:prstGeom>
        </p:spPr>
      </p:pic>
      <p:pic>
        <p:nvPicPr>
          <p:cNvPr id="9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3640" cy="1523520"/>
          </a:xfrm>
          <a:prstGeom prst="rect">
            <a:avLst/>
          </a:prstGeom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600">
                <a:solidFill>
                  <a:srgbClr val="FFFFFF"/>
                </a:solidFill>
                <a:latin typeface="Arial Black" panose="020B0A04020102020204"/>
              </a:rPr>
              <a:t>Click to edit the title text formatClick to edit Master title style</a:t>
            </a:r>
            <a:endParaRPr lang="en-US" sz="2600">
              <a:solidFill>
                <a:srgbClr val="FFFFFF"/>
              </a:solidFill>
              <a:latin typeface="Arial Black" panose="020B0A04020102020204"/>
            </a:endParaRPr>
          </a:p>
        </p:txBody>
      </p:sp>
      <p:pic>
        <p:nvPicPr>
          <p:cNvPr id="3" name="Picture 5"/>
          <p:cNvPicPr/>
          <p:nvPr/>
        </p:nvPicPr>
        <p:blipFill>
          <a:blip r:embed="rId15"/>
          <a:stretch>
            <a:fillRect/>
          </a:stretch>
        </p:blipFill>
        <p:spPr>
          <a:xfrm>
            <a:off x="76320" y="135000"/>
            <a:ext cx="1144080" cy="1160280"/>
          </a:xfrm>
          <a:prstGeom prst="rect">
            <a:avLst/>
          </a:prstGeom>
        </p:spPr>
      </p:pic>
      <p:sp>
        <p:nvSpPr>
          <p:cNvPr id="4" name="CustomShape 2"/>
          <p:cNvSpPr/>
          <p:nvPr/>
        </p:nvSpPr>
        <p:spPr>
          <a:xfrm>
            <a:off x="990720" y="609480"/>
            <a:ext cx="8152920" cy="5007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350" b="1">
                <a:solidFill>
                  <a:srgbClr val="FFFFFF"/>
                </a:solidFill>
                <a:latin typeface="Calibri" panose="020F0502020204030204"/>
              </a:rPr>
              <a:t>(An  Autonomous Institution Affiliated to Rashtrasant Tukadoji Maharaj Nagpur University, Nagpur)</a:t>
            </a:r>
            <a:endParaRPr lang="en-IN" sz="13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CustomShape 3"/>
          <p:cNvSpPr/>
          <p:nvPr/>
        </p:nvSpPr>
        <p:spPr>
          <a:xfrm>
            <a:off x="990720" y="847800"/>
            <a:ext cx="8152920" cy="51696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>
                <a:solidFill>
                  <a:srgbClr val="FFFFFF"/>
                </a:solidFill>
                <a:latin typeface="Times New Roman" panose="02020603050405020304"/>
              </a:rPr>
              <a:t>Department of Electronics Engineering</a:t>
            </a:r>
            <a:endParaRPr lang="en-IN" sz="2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" name="CustomShape 4"/>
          <p:cNvSpPr/>
          <p:nvPr/>
        </p:nvSpPr>
        <p:spPr>
          <a:xfrm>
            <a:off x="1102680" y="76320"/>
            <a:ext cx="7977960" cy="577800"/>
          </a:xfrm>
          <a:prstGeom prst="rect">
            <a:avLst/>
          </a:prstGeom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3200" b="1">
                <a:solidFill>
                  <a:srgbClr val="FFFF00"/>
                </a:solidFill>
                <a:latin typeface="Times New Roman" panose="02020603050405020304"/>
              </a:rPr>
              <a:t>Yeshwantrao Chavan College of Engineering</a:t>
            </a:r>
            <a:endParaRPr lang="en-IN" sz="3200" b="1">
              <a:solidFill>
                <a:srgbClr val="FFFF00"/>
              </a:solidFill>
              <a:latin typeface="Times New Roman" panose="02020603050405020304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25000"/>
              <a:buFont typeface="StarSymbol"/>
              <a:buChar char=""/>
            </a:pPr>
            <a:r>
              <a:rPr lang="en-US"/>
              <a:t>Click to edit the outline text format</a:t>
            </a:r>
            <a:endParaRPr lang="en-US"/>
          </a:p>
          <a:p>
            <a:pPr lvl="1">
              <a:buSzPct val="25000"/>
              <a:buFont typeface="StarSymbol"/>
              <a:buChar char=""/>
            </a:pPr>
            <a:r>
              <a:rPr lang="en-US"/>
              <a:t>Second Outline Level</a:t>
            </a:r>
            <a:endParaRPr lang="en-US"/>
          </a:p>
          <a:p>
            <a:pPr lvl="2">
              <a:buSzPct val="25000"/>
              <a:buFont typeface="StarSymbol"/>
              <a:buChar char=""/>
            </a:pPr>
            <a:r>
              <a:rPr lang="en-US"/>
              <a:t>Third Outline Level</a:t>
            </a:r>
            <a:endParaRPr lang="en-US"/>
          </a:p>
          <a:p>
            <a:pPr lvl="3">
              <a:buSzPct val="25000"/>
              <a:buFont typeface="StarSymbol"/>
              <a:buChar char=""/>
            </a:pPr>
            <a:r>
              <a:rPr lang="en-US"/>
              <a:t>Fourth Outline Level</a:t>
            </a:r>
            <a:endParaRPr lang="en-US"/>
          </a:p>
          <a:p>
            <a:pPr lvl="4">
              <a:buSzPct val="25000"/>
              <a:buFont typeface="StarSymbol"/>
              <a:buChar char=""/>
            </a:pPr>
            <a:r>
              <a:rPr lang="en-US"/>
              <a:t>Fifth Outline Level</a:t>
            </a:r>
            <a:endParaRPr lang="en-US"/>
          </a:p>
          <a:p>
            <a:pPr lvl="5">
              <a:buSzPct val="25000"/>
              <a:buFont typeface="StarSymbol"/>
              <a:buChar char=""/>
            </a:pPr>
            <a:r>
              <a:rPr lang="en-US"/>
              <a:t>Sixth Outline Level</a:t>
            </a:r>
            <a:endParaRPr lang="en-US"/>
          </a:p>
          <a:p>
            <a:pPr lvl="6">
              <a:buSzPct val="25000"/>
              <a:buFont typeface="StarSymbol"/>
              <a:buChar char=""/>
            </a:pPr>
            <a:r>
              <a:rPr lang="en-US"/>
              <a:t>Seventh Outline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6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3640" cy="609120"/>
          </a:xfrm>
          <a:prstGeom prst="rect">
            <a:avLst/>
          </a:prstGeom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3640" cy="4568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600">
                <a:solidFill>
                  <a:srgbClr val="FFFFFF"/>
                </a:solidFill>
                <a:latin typeface="Arial Black" panose="020B0A04020102020204"/>
              </a:rPr>
              <a:t>Click to edit the title text formatClick to edit Master title style</a:t>
            </a:r>
            <a:endParaRPr lang="en-US" sz="2600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8000640" cy="5790960"/>
          </a:xfrm>
          <a:prstGeom prst="rect">
            <a:avLst/>
          </a:prstGeom>
        </p:spPr>
        <p:txBody>
          <a:bodyPr/>
          <a:lstStyle/>
          <a:p>
            <a:pPr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 panose="020F0502020204030204"/>
              </a:rPr>
              <a:t>Click to edit the outline text format</a:t>
            </a:r>
            <a:endParaRPr lang="en-US" sz="3200">
              <a:solidFill>
                <a:srgbClr val="000000"/>
              </a:solidFill>
              <a:latin typeface="Calibri" panose="020F0502020204030204"/>
            </a:endParaRPr>
          </a:p>
          <a:p>
            <a:pPr lvl="1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 panose="020F0502020204030204"/>
              </a:rPr>
              <a:t>Second Outline Level</a:t>
            </a:r>
            <a:endParaRPr lang="en-US" sz="3200">
              <a:solidFill>
                <a:srgbClr val="000000"/>
              </a:solidFill>
              <a:latin typeface="Calibri" panose="020F0502020204030204"/>
            </a:endParaRPr>
          </a:p>
          <a:p>
            <a:pPr lvl="2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 panose="020F0502020204030204"/>
              </a:rPr>
              <a:t>Third Outline Level</a:t>
            </a:r>
            <a:endParaRPr lang="en-US" sz="3200">
              <a:solidFill>
                <a:srgbClr val="000000"/>
              </a:solidFill>
              <a:latin typeface="Calibri" panose="020F0502020204030204"/>
            </a:endParaRPr>
          </a:p>
          <a:p>
            <a:pPr lvl="3">
              <a:buSzPct val="25000"/>
              <a:buFont typeface="StarSymbol"/>
              <a:buChar char=""/>
            </a:pPr>
            <a:r>
              <a:rPr lang="en-US" sz="3200">
                <a:solidFill>
                  <a:srgbClr val="000000"/>
                </a:solidFill>
                <a:latin typeface="Calibri" panose="020F0502020204030204"/>
              </a:rPr>
              <a:t>Fourth Outline Level</a:t>
            </a:r>
            <a:endParaRPr lang="en-US" sz="3200">
              <a:solidFill>
                <a:srgbClr val="000000"/>
              </a:solidFill>
              <a:latin typeface="Calibri" panose="020F0502020204030204"/>
            </a:endParaRPr>
          </a:p>
          <a:p>
            <a:pPr lvl="4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 panose="020F0502020204030204"/>
              </a:rPr>
              <a:t>Fifth Outline Level</a:t>
            </a:r>
            <a:endParaRPr lang="en-US" sz="3200">
              <a:solidFill>
                <a:srgbClr val="000000"/>
              </a:solidFill>
              <a:latin typeface="Calibri" panose="020F0502020204030204"/>
            </a:endParaRPr>
          </a:p>
          <a:p>
            <a:pPr lvl="5">
              <a:buSzPct val="25000"/>
              <a:buFont typeface="StarSymbol"/>
              <a:buChar char=""/>
            </a:pPr>
            <a:r>
              <a:rPr lang="en-US" sz="3200">
                <a:solidFill>
                  <a:srgbClr val="000000"/>
                </a:solidFill>
                <a:latin typeface="Calibri" panose="020F0502020204030204"/>
              </a:rPr>
              <a:t>Sixth Outline Level</a:t>
            </a:r>
            <a:endParaRPr lang="en-US" sz="320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r>
              <a:rPr lang="en-US" sz="3200">
                <a:solidFill>
                  <a:srgbClr val="000000"/>
                </a:solidFill>
                <a:latin typeface="Calibri" panose="020F0502020204030204"/>
              </a:rPr>
              <a:t>Seventh Outline LevelClick to edit Master text styles</a:t>
            </a:r>
            <a:endParaRPr lang="en-US" sz="3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477120"/>
            <a:ext cx="632412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300" b="1">
                <a:solidFill>
                  <a:srgbClr val="FFFFFF"/>
                </a:solidFill>
                <a:latin typeface="Calibri" panose="020F0502020204030204"/>
              </a:rPr>
              <a:t>03/04/14                                      Department of Electronics Engineering, YCCE, Nagpur</a:t>
            </a:r>
            <a:endParaRPr lang="en-IN"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477120"/>
            <a:ext cx="2895120" cy="364680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4771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208FD56A-00F4-4E8D-B4B7-B060AC4322F0}" type="slidenum">
              <a:rPr lang="en-IN" sz="1400" b="1">
                <a:solidFill>
                  <a:srgbClr val="FFFFFF"/>
                </a:solidFill>
                <a:latin typeface="Calibri" panose="020F0502020204030204"/>
              </a:rPr>
            </a:fld>
            <a:endParaRPr lang="en-IN" sz="1400" b="1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hyperlink" Target="https://patents.google.com/patent/AT396740B/enB" TargetMode="External"/><Relationship Id="rId3" Type="http://schemas.openxmlformats.org/officeDocument/2006/relationships/hyperlink" Target="https://patents.google.com/patent/US5096421A/en" TargetMode="External"/><Relationship Id="rId2" Type="http://schemas.openxmlformats.org/officeDocument/2006/relationships/hyperlink" Target="https://patents.google.com/patent/US10306124B1/ene" TargetMode="External"/><Relationship Id="rId1" Type="http://schemas.openxmlformats.org/officeDocument/2006/relationships/hyperlink" Target="https://patents.google.com/patent/EP2891467A1/en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635" y="3924935"/>
            <a:ext cx="9143365" cy="124587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400" b="1" dirty="0">
                <a:latin typeface="Bookman Old Style" panose="02050604050505020204" pitchFamily="18" charset="0"/>
              </a:rPr>
              <a:t>Under the Guidance of D.Y. Suryawanshi</a:t>
            </a:r>
            <a:endParaRPr lang="en-IN" sz="2400" b="1" dirty="0">
              <a:latin typeface="Bookman Old Style" panose="02050604050505020204" pitchFamily="18" charset="0"/>
            </a:endParaRPr>
          </a:p>
          <a:p>
            <a:pPr algn="ctr"/>
            <a:r>
              <a:rPr lang="en-IN" sz="2400" b="1" dirty="0">
                <a:latin typeface="Bookman Old Style" panose="02050604050505020204" pitchFamily="18" charset="0"/>
              </a:rPr>
              <a:t>Session 2021-22</a:t>
            </a: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400" b="1" dirty="0">
                <a:latin typeface="Bookman Old Style" panose="02050604050505020204" pitchFamily="18" charset="0"/>
              </a:rPr>
              <a:t> </a:t>
            </a:r>
            <a:endParaRPr dirty="0">
              <a:latin typeface="Bookman Old Style" panose="02050604050505020204" pitchFamily="18" charset="0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91440" y="2443480"/>
            <a:ext cx="8899525" cy="2601595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600" b="1" dirty="0" smtClean="0">
                <a:latin typeface="Algerian" panose="04020705040A02060702" pitchFamily="82" charset="0"/>
                <a:sym typeface="+mn-ea"/>
              </a:rPr>
              <a:t>MICRO-CAMERA BASED AIROTOR</a:t>
            </a:r>
            <a:endParaRPr sz="2600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400" b="1" dirty="0">
                <a:latin typeface="Bookman Old Style" panose="02050604050505020204" pitchFamily="18" charset="0"/>
              </a:rPr>
              <a:t>Presented By</a:t>
            </a: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400" b="1" dirty="0">
                <a:latin typeface="Bookman Old Style" panose="02050604050505020204" pitchFamily="18" charset="0"/>
              </a:rPr>
              <a:t>Team Dynamic Innovators</a:t>
            </a: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sz="2400" b="1"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dirty="0">
              <a:latin typeface="Bookman Old Style" panose="02050604050505020204" pitchFamily="18" charset="0"/>
            </a:endParaRPr>
          </a:p>
          <a:p>
            <a:pPr algn="ctr">
              <a:lnSpc>
                <a:spcPct val="100000"/>
              </a:lnSpc>
            </a:pPr>
            <a:endParaRPr dirty="0">
              <a:latin typeface="Bookman Old Style" panose="02050604050505020204" pitchFamily="18" charset="0"/>
            </a:endParaRPr>
          </a:p>
        </p:txBody>
      </p:sp>
      <p:sp>
        <p:nvSpPr>
          <p:cNvPr id="80" name="CustomShape 3"/>
          <p:cNvSpPr/>
          <p:nvPr/>
        </p:nvSpPr>
        <p:spPr>
          <a:xfrm>
            <a:off x="2532600" y="6396480"/>
            <a:ext cx="3905640" cy="364680"/>
          </a:xfrm>
          <a:prstGeom prst="rect">
            <a:avLst/>
          </a:prstGeom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FFFFFF"/>
                </a:solidFill>
                <a:latin typeface="Bookman Old Style" panose="02050604050505020204" pitchFamily="18" charset="0"/>
              </a:rPr>
              <a:t>VII </a:t>
            </a:r>
            <a:r>
              <a:rPr lang="en-IN" b="1" dirty="0" err="1">
                <a:solidFill>
                  <a:srgbClr val="FFFFFF"/>
                </a:solidFill>
                <a:latin typeface="Bookman Old Style" panose="02050604050505020204" pitchFamily="18" charset="0"/>
              </a:rPr>
              <a:t>Sem</a:t>
            </a:r>
            <a:r>
              <a:rPr lang="en-IN" b="1" dirty="0">
                <a:solidFill>
                  <a:srgbClr val="FFFFFF"/>
                </a:solidFill>
                <a:latin typeface="Bookman Old Style" panose="02050604050505020204" pitchFamily="18" charset="0"/>
              </a:rPr>
              <a:t> (Electronics Engineering)</a:t>
            </a:r>
            <a:endParaRPr>
              <a:latin typeface="Bookman Old Style" panose="02050604050505020204" pitchFamily="18" charset="0"/>
            </a:endParaRPr>
          </a:p>
        </p:txBody>
      </p:sp>
      <p:sp>
        <p:nvSpPr>
          <p:cNvPr id="81" name="CustomShape 4"/>
          <p:cNvSpPr/>
          <p:nvPr/>
        </p:nvSpPr>
        <p:spPr>
          <a:xfrm>
            <a:off x="228600" y="6019920"/>
            <a:ext cx="827064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i="1" dirty="0">
                <a:solidFill>
                  <a:srgbClr val="000000"/>
                </a:solidFill>
                <a:latin typeface="Bookman Old Style" panose="02050604050505020204" pitchFamily="18" charset="0"/>
              </a:rPr>
              <a:t>Note - Presentation time will be limited to 15 minutes, including Q&amp;A</a:t>
            </a:r>
            <a:endParaRPr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US" sz="2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 of Project</a:t>
            </a:r>
            <a:endParaRPr lang="en-IN" altLang="en-US" sz="2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556895" y="609600"/>
            <a:ext cx="8002905" cy="5791200"/>
          </a:xfrm>
        </p:spPr>
        <p:txBody>
          <a:bodyPr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altLang="en-US" b="1" dirty="0" smtClean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proposal to do this project came from to solve a real life problem in medical field</a:t>
            </a:r>
            <a:endParaRPr 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During cavity operations doctor's vision to see cavity to a certain limit of angle....so that makes the process longer and hectic to perform the task...This is a much common problem we are trying to solve from medical field.</a:t>
            </a:r>
            <a:endParaRPr 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altLang="en-US" b="1" dirty="0" smtClean="0"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altLang="en-US" b="1" dirty="0" smtClean="0"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Motivation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possibility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solve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MEDICAL FIELD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problems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using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ENGINEERING BACKGROUND </a:t>
            </a:r>
            <a:endParaRPr lang="en-US" sz="20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ur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oal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try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solve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limitations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irotor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dental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field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ease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difficulties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face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doctors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during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Cavity</a:t>
            </a:r>
            <a:r>
              <a:rPr 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</a:t>
            </a:r>
            <a:r>
              <a:rPr lang="en-IN" altLang="en-US" sz="20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reatment.</a:t>
            </a:r>
            <a:endParaRPr lang="en-IN" altLang="en-US" sz="2000" b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pPr algn="ctr"/>
            <a:r>
              <a:rPr lang="en-IN" altLang="en-US" sz="29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altLang="en-US" sz="29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alt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707390"/>
          <a:ext cx="7971790" cy="537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40"/>
                <a:gridCol w="2246630"/>
                <a:gridCol w="1226820"/>
                <a:gridCol w="3416300"/>
              </a:tblGrid>
              <a:tr h="419735">
                <a:tc>
                  <a:txBody>
                    <a:bodyPr/>
                    <a:p>
                      <a:r>
                        <a:rPr lang="en-IN" sz="20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Sr.No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000" b="1" smtClean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</a:t>
                      </a:r>
                      <a:endParaRPr lang="en-IN" sz="20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2000" b="1" smtClean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Year</a:t>
                      </a:r>
                      <a:endParaRPr lang="en-IN" sz="20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4955540">
                <a:tc>
                  <a:txBody>
                    <a:bodyPr/>
                    <a:p>
                      <a:endParaRPr lang="en-IN" sz="20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Camera Viewing Attachment &amp; Display System for Low Speed Dental Hand-Piece</a:t>
                      </a:r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May 28, 2019</a:t>
                      </a:r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system providing a removable camera attachment for a low-speed dental hand-piece &amp; a cavity excavation viewing system.</a:t>
                      </a:r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camera viewing attachment provides a silicone for a low-speed boa</a:t>
                      </a:r>
                      <a:r>
                        <a:rPr lang="en-IN" sz="2000" b="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that magnifies the cavity preparation site &amp; an LED that illuminates the site.</a:t>
                      </a:r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6695"/>
            <a:ext cx="9143365" cy="196215"/>
          </a:xfrm>
        </p:spPr>
        <p:txBody>
          <a:bodyPr/>
          <a:p>
            <a:pPr algn="ctr"/>
            <a:r>
              <a:rPr lang="en-IN" altLang="en-US" sz="2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</a:t>
            </a:r>
            <a:br>
              <a:rPr lang="en-IN" alt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642620"/>
          <a:ext cx="8038465" cy="563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010"/>
                <a:gridCol w="2320290"/>
                <a:gridCol w="1333500"/>
                <a:gridCol w="3288665"/>
              </a:tblGrid>
              <a:tr h="440690">
                <a:tc>
                  <a:txBody>
                    <a:bodyPr/>
                    <a:p>
                      <a:r>
                        <a:rPr lang="en-IN" sz="2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Sr.No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dirty="0" smtClean="0"/>
                        <a:t>Description</a:t>
                      </a:r>
                      <a:endParaRPr lang="en-IN" dirty="0"/>
                    </a:p>
                  </a:txBody>
                  <a:tcPr/>
                </a:tc>
              </a:tr>
              <a:tr h="5189855">
                <a:tc>
                  <a:txBody>
                    <a:bodyPr/>
                    <a:p>
                      <a:endParaRPr lang="en-IN" sz="20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Dental 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-P</a:t>
                      </a:r>
                      <a:r>
                        <a:rPr lang="en-US" sz="2000" b="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iece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with 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2000" b="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ound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asking 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unction</a:t>
                      </a:r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April 04, 2018</a:t>
                      </a:r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en-US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present 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papers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relates to a dental hand piece having sound masking function. </a:t>
                      </a:r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According to an embodiment of the present invention, the dental hand piece having sound masking function comprises</a:t>
                      </a:r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1"/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705485"/>
          <a:ext cx="7924165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070"/>
                <a:gridCol w="2134235"/>
                <a:gridCol w="951230"/>
                <a:gridCol w="3770630"/>
              </a:tblGrid>
              <a:tr h="414020">
                <a:tc>
                  <a:txBody>
                    <a:bodyPr/>
                    <a:p>
                      <a:r>
                        <a:rPr lang="en-IN" sz="2000" b="1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Sr.No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IN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5253355">
                <a:tc>
                  <a:txBody>
                    <a:bodyPr/>
                    <a:p>
                      <a:endParaRPr lang="en-IN" sz="2000" b="1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Medical Dentistry Hand-Piece with Image Transmission Arrangement</a:t>
                      </a:r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April 01, 1993</a:t>
                      </a:r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endParaRPr lang="en-US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medical dentistry hand</a:t>
                      </a:r>
                      <a:r>
                        <a:rPr lang="en-IN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piece connectable to a supply hose has a handle piece capable of </a:t>
                      </a:r>
                      <a:r>
                        <a:rPr lang="en-US" sz="2000" b="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swivelling</a:t>
                      </a: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with respect to the supply hose for securing an operational piece that carries a tool </a:t>
                      </a:r>
                      <a:endParaRPr lang="en-IN" sz="2000" b="0" dirty="0" smtClean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converter that converts the images supplied by the image transmission arrangement into electric signals </a:t>
                      </a:r>
                      <a:endParaRPr lang="en-IN" sz="2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kern="1200" dirty="0">
                <a:solidFill>
                  <a:srgbClr val="FFFFFF"/>
                </a:solidFill>
                <a:latin typeface="Bookman Old Style" panose="02050604050505020204" pitchFamily="18" charset="0"/>
                <a:ea typeface="+mn-ea"/>
                <a:cs typeface="+mn-cs"/>
              </a:rPr>
              <a:t>Problem  Statement </a:t>
            </a:r>
            <a:endParaRPr lang="en-US" sz="2800" b="1" kern="1200" dirty="0">
              <a:solidFill>
                <a:srgbClr val="FFFFFF"/>
              </a:solidFill>
              <a:latin typeface="Bookman Old Style" panose="02050604050505020204" pitchFamily="18" charset="0"/>
              <a:ea typeface="+mn-ea"/>
              <a:cs typeface="+mn-cs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/>
          </p:nvPr>
        </p:nvSpPr>
        <p:spPr>
          <a:xfrm>
            <a:off x="152400" y="602615"/>
            <a:ext cx="8853805" cy="5878830"/>
          </a:xfrm>
        </p:spPr>
        <p:txBody>
          <a:bodyPr/>
          <a:lstStyle/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1800" b="0" dirty="0">
                <a:latin typeface="Bookman Old Style" panose="02050604050505020204" pitchFamily="18" charset="0"/>
              </a:rPr>
              <a:t>In the field of dental treatment when carious tooth or mouth problem occurs it is treated with the help of cutting and removing   decay operator i.e dental handpiece or airotor</a:t>
            </a:r>
            <a:r>
              <a:rPr lang="en-IN" altLang="en-US" sz="1800" b="0" dirty="0">
                <a:latin typeface="Bookman Old Style" panose="02050604050505020204" pitchFamily="18" charset="0"/>
              </a:rPr>
              <a:t>.</a:t>
            </a:r>
            <a:endParaRPr lang="en-IN" alt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1800" b="0" dirty="0">
                <a:latin typeface="Bookman Old Style" panose="02050604050505020204" pitchFamily="18" charset="0"/>
              </a:rPr>
              <a:t>Nowadays doctor's/ dentists are seeing inner view of patients mouth with the help of small mirror and treat patients accordingly</a:t>
            </a: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1800" b="0" dirty="0">
                <a:latin typeface="Bookman Old Style" panose="02050604050505020204" pitchFamily="18" charset="0"/>
              </a:rPr>
              <a:t>Dentists have to be more careful, they have to take more precautions while treating patients as there is no source of light and accuracy things . Limitations of such systems includes amount of time the process takes. </a:t>
            </a: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1800" b="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IN" altLang="en-US" b="1" kern="1200" dirty="0">
                <a:solidFill>
                  <a:srgbClr val="FFFFFF"/>
                </a:solidFill>
                <a:latin typeface="Bookman Old Style" panose="02050604050505020204" pitchFamily="18" charset="0"/>
                <a:ea typeface="+mn-ea"/>
                <a:cs typeface="+mn-cs"/>
                <a:sym typeface="+mn-ea"/>
              </a:rPr>
              <a:t>                                      </a:t>
            </a:r>
            <a:r>
              <a:rPr lang="en-IN" altLang="en-US" sz="2400" b="1" kern="1200" dirty="0">
                <a:solidFill>
                  <a:srgbClr val="FFFFFF"/>
                </a:solidFill>
                <a:latin typeface="Bookman Old Style" panose="02050604050505020204" pitchFamily="18" charset="0"/>
                <a:ea typeface="+mn-ea"/>
                <a:cs typeface="+mn-cs"/>
                <a:sym typeface="+mn-ea"/>
              </a:rPr>
              <a:t>     </a:t>
            </a:r>
            <a:r>
              <a:rPr lang="en-US" sz="2400" b="1" kern="1200" dirty="0">
                <a:solidFill>
                  <a:srgbClr val="FFFFFF"/>
                </a:solidFill>
                <a:latin typeface="Bookman Old Style" panose="02050604050505020204" pitchFamily="18" charset="0"/>
                <a:ea typeface="+mn-ea"/>
                <a:cs typeface="+mn-cs"/>
                <a:sym typeface="+mn-ea"/>
              </a:rPr>
              <a:t>Problem  Statement</a:t>
            </a:r>
            <a:endParaRPr lang="en-US" sz="240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358775" y="609600"/>
            <a:ext cx="8251190" cy="5791200"/>
          </a:xfrm>
        </p:spPr>
        <p:txBody>
          <a:bodyPr/>
          <a:p>
            <a:pPr indent="0">
              <a:buFont typeface="Arial" panose="020B0604020202020204" pitchFamily="34" charset="0"/>
              <a:buNone/>
            </a:pPr>
            <a:endParaRPr lang="en-IN" altLang="en-US" b="0" dirty="0">
              <a:latin typeface="Bookman Old Style" panose="020506040505050202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IN" altLang="en-US" b="0" dirty="0">
              <a:latin typeface="Bookman Old Style" panose="020506040505050202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0" dirty="0">
                <a:latin typeface="Bookman Old Style" panose="02050604050505020204" pitchFamily="18" charset="0"/>
                <a:sym typeface="+mn-ea"/>
              </a:rPr>
              <a:t>T</a:t>
            </a:r>
            <a:r>
              <a:rPr lang="en-US" b="0" dirty="0">
                <a:latin typeface="Bookman Old Style" panose="02050604050505020204" pitchFamily="18" charset="0"/>
                <a:sym typeface="+mn-ea"/>
              </a:rPr>
              <a:t>herefore such a systems requires a separate imaging camera that is going to take images and display it on screen. </a:t>
            </a:r>
            <a:endParaRPr lang="en-US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b="0" dirty="0">
              <a:latin typeface="Bookman Old Style" panose="020506040505050202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b="0" dirty="0">
                <a:latin typeface="Bookman Old Style" panose="02050604050505020204" pitchFamily="18" charset="0"/>
                <a:sym typeface="+mn-ea"/>
              </a:rPr>
              <a:t>With the advancement of technology we are going to introduce the camera viewing attachment include LED ( light emitting diode) that illuminates cavity preparation site so that doctors/ dentists can easily see the inner view of mouth and treat patients. </a:t>
            </a:r>
            <a:endParaRPr lang="en-US" b="0" dirty="0">
              <a:latin typeface="Bookman Old Style" panose="020506040505050202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b="0" dirty="0">
              <a:latin typeface="Bookman Old Style" panose="020506040505050202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b="0" dirty="0">
              <a:latin typeface="Bookman Old Style" panose="020506040505050202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b="0" dirty="0">
                <a:latin typeface="Bookman Old Style" panose="02050604050505020204" pitchFamily="18" charset="0"/>
                <a:sym typeface="+mn-ea"/>
              </a:rPr>
              <a:t>While using this system doctors can also discontinuing working on patients set up an acquisition mode for image to be taken , identify image and acquire its angulation. Identify what is captured and its orientation and then if needed continue working</a:t>
            </a:r>
            <a:endParaRPr lang="en-US" b="0" dirty="0">
              <a:latin typeface="Bookman Old Style" panose="020506040505050202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6477000"/>
            <a:ext cx="6296660" cy="36449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100" b="1">
                <a:solidFill>
                  <a:srgbClr val="FFFFFF"/>
                </a:solidFill>
                <a:latin typeface="Bookman Old Style" panose="02050604050505020204" pitchFamily="18" charset="0"/>
              </a:rPr>
              <a:t>                                       Department of Electronics Engineering, YCCE, Nagpur</a:t>
            </a:r>
            <a:endParaRPr sz="1400">
              <a:latin typeface="Bookman Old Style" panose="02050604050505020204" pitchFamily="18" charset="0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6553080" y="64771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7852772E-8D79-4F7C-89C1-1F2F03FE9DA5}" type="slidenum">
              <a:rPr lang="en-IN" sz="1100" b="1">
                <a:solidFill>
                  <a:srgbClr val="FFFFFF"/>
                </a:solidFill>
                <a:latin typeface="Bookman Old Style" panose="02050604050505020204" pitchFamily="18" charset="0"/>
              </a:rPr>
            </a:fld>
            <a:endParaRPr sz="1400">
              <a:latin typeface="Bookman Old Style" panose="02050604050505020204" pitchFamily="18" charset="0"/>
            </a:endParaRPr>
          </a:p>
        </p:txBody>
      </p:sp>
      <p:sp>
        <p:nvSpPr>
          <p:cNvPr id="93" name="CustomShape 3"/>
          <p:cNvSpPr/>
          <p:nvPr/>
        </p:nvSpPr>
        <p:spPr>
          <a:xfrm>
            <a:off x="0" y="76320"/>
            <a:ext cx="9143640" cy="45684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IN" sz="2000" b="1">
                <a:solidFill>
                  <a:schemeClr val="bg1"/>
                </a:solidFill>
                <a:latin typeface="Bookman Old Style" panose="02050604050505020204" pitchFamily="18" charset="0"/>
              </a:rPr>
              <a:t>Airotor with Micro-Camera Device</a:t>
            </a:r>
            <a:endParaRPr lang="en-IN" sz="2000" b="1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4" name="TextShape 4"/>
          <p:cNvSpPr txBox="1"/>
          <p:nvPr/>
        </p:nvSpPr>
        <p:spPr>
          <a:xfrm>
            <a:off x="609600" y="609600"/>
            <a:ext cx="8000365" cy="5615305"/>
          </a:xfrm>
          <a:prstGeom prst="rect">
            <a:avLst/>
          </a:prstGeom>
        </p:spPr>
        <p:txBody>
          <a:bodyPr/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sz="1400" b="1" spc="-5" dirty="0">
              <a:latin typeface="Arial" panose="020B0604020202020204"/>
              <a:cs typeface="Arial" panose="020B0604020202020204"/>
              <a:sym typeface="+mn-ea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Arial" panose="020B0604020202020204"/>
                <a:cs typeface="Arial" panose="020B0604020202020204"/>
                <a:sym typeface="+mn-ea"/>
              </a:rPr>
              <a:t>Diagram Showing Interior of the Dental</a:t>
            </a:r>
            <a:r>
              <a:rPr sz="2000" b="1" spc="-75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2000" b="1" spc="-5" dirty="0">
                <a:latin typeface="Arial" panose="020B0604020202020204"/>
                <a:cs typeface="Arial" panose="020B0604020202020204"/>
                <a:sym typeface="+mn-ea"/>
              </a:rPr>
              <a:t>Handpiece</a:t>
            </a:r>
            <a:endParaRPr sz="2000">
              <a:latin typeface="Bookman Old Style" panose="02050604050505020204" pitchFamily="18" charset="0"/>
            </a:endParaRPr>
          </a:p>
        </p:txBody>
      </p:sp>
      <p:sp>
        <p:nvSpPr>
          <p:cNvPr id="6" name="object 5"/>
          <p:cNvSpPr/>
          <p:nvPr/>
        </p:nvSpPr>
        <p:spPr>
          <a:xfrm>
            <a:off x="672084" y="957072"/>
            <a:ext cx="7830311" cy="471678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0815"/>
            <a:ext cx="9143365" cy="362585"/>
          </a:xfrm>
        </p:spPr>
        <p:txBody>
          <a:bodyPr/>
          <a:p>
            <a:pPr algn="ctr"/>
            <a:r>
              <a:rPr lang="en-IN" sz="2000" b="1">
                <a:solidFill>
                  <a:schemeClr val="bg1"/>
                </a:solidFill>
                <a:latin typeface="Bookman Old Style" panose="02050604050505020204" pitchFamily="18" charset="0"/>
                <a:sym typeface="+mn-ea"/>
              </a:rPr>
              <a:t>Airotor with Micro-Camera Device</a:t>
            </a:r>
            <a:br>
              <a:rPr lang="en-IN" b="1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1136650" y="594994"/>
          <a:ext cx="6780529" cy="5811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5179"/>
                <a:gridCol w="3435350"/>
              </a:tblGrid>
              <a:tr h="396239">
                <a:tc>
                  <a:txBody>
                    <a:bodyPr/>
                    <a:p>
                      <a:pPr marL="495300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270635" algn="l"/>
                          <a:tab pos="1637030" algn="l"/>
                        </a:tabLst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Arial" panose="020B0604020202020204"/>
                          <a:cs typeface="Arial" panose="020B0604020202020204"/>
                        </a:rPr>
                        <a:t>Parts	in	Handpiece</a:t>
                      </a:r>
                      <a:endParaRPr sz="2000" b="1" spc="-5" dirty="0">
                        <a:solidFill>
                          <a:srgbClr val="FFFF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spc="-5" dirty="0">
                          <a:solidFill>
                            <a:srgbClr val="FFFF00"/>
                          </a:solidFill>
                          <a:latin typeface="Arial" panose="020B0604020202020204"/>
                          <a:cs typeface="Arial" panose="020B0604020202020204"/>
                        </a:rPr>
                        <a:t>Notations</a:t>
                      </a:r>
                      <a:endParaRPr sz="2000" b="1" spc="-5" dirty="0">
                        <a:solidFill>
                          <a:srgbClr val="FFFF00"/>
                        </a:solidFill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417829">
                <a:tc>
                  <a:txBody>
                    <a:bodyPr/>
                    <a:p>
                      <a:pPr marL="6642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Dental</a:t>
                      </a:r>
                      <a:r>
                        <a:rPr sz="2000" b="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Handpiece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 marL="7416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Handpiece</a:t>
                      </a:r>
                      <a:r>
                        <a:rPr sz="2000" b="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15289">
                <a:tc>
                  <a:txBody>
                    <a:bodyPr/>
                    <a:p>
                      <a:pPr marL="1841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</a:t>
                      </a:r>
                      <a:r>
                        <a:rPr sz="2000" b="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Apparatus/Device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Lens</a:t>
                      </a:r>
                      <a:r>
                        <a:rPr sz="2000" b="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15925">
                <a:tc>
                  <a:txBody>
                    <a:bodyPr/>
                    <a:p>
                      <a:pPr marL="10096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</a:t>
                      </a:r>
                      <a:r>
                        <a:rPr sz="2000" b="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18464">
                <a:tc>
                  <a:txBody>
                    <a:bodyPr/>
                    <a:p>
                      <a:pPr marL="10020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</a:t>
                      </a:r>
                      <a:r>
                        <a:rPr sz="2000" b="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14655">
                <a:tc>
                  <a:txBody>
                    <a:bodyPr/>
                    <a:p>
                      <a:pPr marL="854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  <a:r>
                        <a:rPr sz="2000" b="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15925">
                <a:tc>
                  <a:txBody>
                    <a:bodyPr/>
                    <a:p>
                      <a:pPr marL="9671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Lighting</a:t>
                      </a:r>
                      <a:r>
                        <a:rPr sz="2000" b="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18464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</a:t>
                      </a:r>
                      <a:endParaRPr sz="2000" b="0" spc="-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15925">
                <a:tc>
                  <a:txBody>
                    <a:bodyPr/>
                    <a:p>
                      <a:pPr marL="10731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000" b="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Reducer</a:t>
                      </a:r>
                      <a:endParaRPr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sz="2000" b="0" spc="-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 marL="607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Roatationg</a:t>
                      </a:r>
                      <a:r>
                        <a:rPr sz="2000" b="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Shaft</a:t>
                      </a:r>
                      <a:endParaRPr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sz="2000" b="0" spc="-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16559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000" b="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</a:t>
                      </a:r>
                      <a:endParaRPr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sz="2000" b="0" spc="-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416560">
                <a:tc>
                  <a:txBody>
                    <a:bodyPr/>
                    <a:p>
                      <a:pPr marL="11004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000" b="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Drill/Bur</a:t>
                      </a:r>
                      <a:endParaRPr sz="20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sz="2000" b="0" spc="-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IN" sz="2000" b="1">
                <a:solidFill>
                  <a:schemeClr val="bg1"/>
                </a:solidFill>
                <a:latin typeface="Bookman Old Style" panose="02050604050505020204" pitchFamily="18" charset="0"/>
                <a:sym typeface="+mn-ea"/>
              </a:rPr>
              <a:t>Construction of Micro-Camera Device</a:t>
            </a:r>
            <a:endParaRPr lang="en-US" sz="200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pPr marL="298450" indent="-285750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Handpiece Body 2, consists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Camera Device/Apparatus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Other Parts of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Airotor.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 panose="020B0604020202020204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Camera Device 3, includes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Lens Unit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Sensor Unit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Control Unit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Operational Unit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 panose="020B0604020202020204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Lighting Unit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 panose="020B0604020202020204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Lens Unit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 &amp;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Lighting Unit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 at external Portion of the  Handpiece Body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&amp;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also Sensor Unit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 above the lens unit</a:t>
            </a:r>
            <a:r>
              <a:rPr spc="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 panose="020B0604020202020204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Lighting Unit 8, composed 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light emitting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diode..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 panose="020B0604020202020204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16255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Sensor Unit 5, may use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CMOS (Complementary Metal Oxide  Semiconductor)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2255"/>
            <a:ext cx="9143365" cy="271145"/>
          </a:xfrm>
        </p:spPr>
        <p:txBody>
          <a:bodyPr/>
          <a:p>
            <a:pPr algn="ctr"/>
            <a:r>
              <a:rPr lang="en-IN" sz="2000" b="1">
                <a:solidFill>
                  <a:schemeClr val="bg1"/>
                </a:solidFill>
                <a:latin typeface="Bookman Old Style" panose="02050604050505020204" pitchFamily="18" charset="0"/>
                <a:sym typeface="+mn-ea"/>
              </a:rPr>
              <a:t>Working of Micro-Camera Device</a:t>
            </a:r>
            <a:br>
              <a:rPr lang="en-US"/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pPr marL="298450" marR="5080" indent="-285750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  <a:tab pos="298450" algn="l"/>
              </a:tabLst>
            </a:pPr>
            <a:endParaRPr sz="2000" spc="-5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98450" marR="5080" indent="-285750">
              <a:lnSpc>
                <a:spcPct val="100000"/>
              </a:lnSpc>
              <a:spcBef>
                <a:spcPts val="105"/>
              </a:spcBef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Lighting unit 8, illuminates the treatment site, then illuminating light  reflect back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&amp;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enter into lens unit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 panose="020B0604020202020204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89535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Sensor unit 5, for converting light received from lens unit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into an  image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signal.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Control unit 6, for transmitting image signal to display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device.</a:t>
            </a:r>
            <a:endParaRPr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endParaRPr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Control Unit 6, consist pf wireless communication network that is used transmission of image signal to display device.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 panose="020B0604020202020204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8420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Operating unit 7, for command for performing the transmitting  image signal to display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device.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33655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Operating unit 7, can be consists of on/off function, zoom function,  etc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0" y="0"/>
            <a:ext cx="9143640" cy="68568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Bookman Old Style" panose="02050604050505020204" pitchFamily="18" charset="0"/>
              </a:rPr>
              <a:t>Usefulness of the Project for the Department/ Institution/S</a:t>
            </a:r>
            <a:r>
              <a:rPr lang="en-IN" altLang="en-US" sz="2000" b="1" dirty="0">
                <a:solidFill>
                  <a:srgbClr val="FFFFFF"/>
                </a:solidFill>
                <a:latin typeface="Bookman Old Style" panose="02050604050505020204" pitchFamily="18" charset="0"/>
              </a:rPr>
              <a:t>ociety</a:t>
            </a:r>
            <a:endParaRPr lang="en-IN" altLang="en-US" sz="2000" b="1" dirty="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457200" y="6477120"/>
            <a:ext cx="632412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300" b="1">
                <a:solidFill>
                  <a:srgbClr val="FFFFFF"/>
                </a:solidFill>
                <a:latin typeface="Bookman Old Style" panose="02050604050505020204" pitchFamily="18" charset="0"/>
              </a:rPr>
              <a:t>03/04/14                                      Department of Electronics Engineering, YCCE, Nagpur</a:t>
            </a:r>
            <a:endParaRPr>
              <a:latin typeface="Bookman Old Style" panose="02050604050505020204" pitchFamily="18" charset="0"/>
            </a:endParaRPr>
          </a:p>
        </p:txBody>
      </p:sp>
      <p:sp>
        <p:nvSpPr>
          <p:cNvPr id="97" name="TextShape 3"/>
          <p:cNvSpPr txBox="1"/>
          <p:nvPr/>
        </p:nvSpPr>
        <p:spPr>
          <a:xfrm>
            <a:off x="6553080" y="64771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205009C1-E959-40E9-84B0-173AABE2C550}" type="slidenum">
              <a:rPr lang="en-IN" sz="1400" b="1">
                <a:solidFill>
                  <a:srgbClr val="FFFFFF"/>
                </a:solidFill>
                <a:latin typeface="Bookman Old Style" panose="02050604050505020204" pitchFamily="18" charset="0"/>
              </a:rPr>
            </a:fld>
            <a:endParaRPr>
              <a:latin typeface="Bookman Old Style" panose="02050604050505020204" pitchFamily="18" charset="0"/>
            </a:endParaRPr>
          </a:p>
        </p:txBody>
      </p:sp>
      <p:sp>
        <p:nvSpPr>
          <p:cNvPr id="98" name="TextShape 4"/>
          <p:cNvSpPr txBox="1"/>
          <p:nvPr/>
        </p:nvSpPr>
        <p:spPr>
          <a:xfrm>
            <a:off x="609480" y="609480"/>
            <a:ext cx="8000640" cy="579096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</a:pPr>
            <a:endParaRPr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Budget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Execution Plan</a:t>
            </a: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284480" y="1358900"/>
            <a:ext cx="8985885" cy="1990725"/>
          </a:xfrm>
          <a:prstGeom prst="rect">
            <a:avLst/>
          </a:prstGeom>
        </p:spPr>
        <p:txBody>
          <a:bodyPr wrap="none" lIns="0" tIns="0" rIns="0" bIns="0" anchor="ctr"/>
          <a:lstStyle>
            <a:lvl1pPr/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Execution Plan</a:t>
            </a: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467995" y="800735"/>
            <a:ext cx="8282305" cy="4585970"/>
          </a:xfrm>
          <a:prstGeom prst="rect">
            <a:avLst/>
          </a:prstGeom>
        </p:spPr>
        <p:txBody>
          <a:bodyPr wrap="none" lIns="0" tIns="0" rIns="0" bIns="0" anchor="ctr"/>
          <a:lstStyle>
            <a:lvl1pPr/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Execution Plan</a:t>
            </a: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468630" y="622935"/>
          <a:ext cx="8255000" cy="4319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715"/>
                <a:gridCol w="4185285"/>
              </a:tblGrid>
              <a:tr h="4095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Dates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Description</a:t>
                      </a:r>
                      <a:endParaRPr lang="en-I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15 July 2021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Appointement with the Dentist for better understanding of current working Airotor.</a:t>
                      </a:r>
                      <a:endParaRPr lang="en-I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31 July 2021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Done with Sumission of Project Pre-liminary Investigation Report.</a:t>
                      </a:r>
                      <a:endParaRPr lang="en-IN" altLang="en-US"/>
                    </a:p>
                  </a:txBody>
                  <a:tcPr/>
                </a:tc>
              </a:tr>
              <a:tr h="11772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22 Sep 2021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Final Paper Submission of Microcamera Based Airotor. .</a:t>
                      </a:r>
                      <a:endParaRPr lang="en-IN" altLang="en-US"/>
                    </a:p>
                  </a:txBody>
                  <a:tcPr/>
                </a:tc>
              </a:tr>
              <a:tr h="1177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/>
                        <a:t>22 Oct 2021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Final Seminar Presentation of Microcamera based Airotor. </a:t>
                      </a:r>
                      <a:endParaRPr lang="en-I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Component list &amp; Estimated cost</a:t>
            </a: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COMPONENTS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Bookman Old Style" panose="02050604050505020204" pitchFamily="18" charset="0"/>
                        </a:rPr>
                        <a:t>COST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523999" y="1771748"/>
          <a:ext cx="6088186" cy="3409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093"/>
                <a:gridCol w="3044093"/>
              </a:tblGrid>
              <a:tr h="971452">
                <a:tc>
                  <a:txBody>
                    <a:bodyPr/>
                    <a:lstStyle/>
                    <a:p>
                      <a:pPr marL="0" indent="0"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Airotor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₹2,500.00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lang="en-US" sz="1600" b="1" dirty="0"/>
                        <a:t>Micro-camera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₹3,000.00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lang="en-US" sz="1600" b="1" dirty="0"/>
                        <a:t>WIFI module</a:t>
                      </a:r>
                      <a:endParaRPr lang="en-US" sz="1600" b="1" dirty="0"/>
                    </a:p>
                    <a:p>
                      <a:r>
                        <a:rPr lang="en-US" sz="1200" b="1" dirty="0"/>
                        <a:t>(ESP8266)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₹400.00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1400" b="1" dirty="0"/>
                        <a:t>Bluetooth</a:t>
                      </a:r>
                      <a:r>
                        <a:rPr lang="en-US" b="1" dirty="0"/>
                        <a:t> </a:t>
                      </a:r>
                      <a:r>
                        <a:rPr lang="en-US" sz="1400" b="1" dirty="0"/>
                        <a:t>module</a:t>
                      </a:r>
                      <a:endParaRPr lang="en-US" sz="1400" b="1" dirty="0"/>
                    </a:p>
                    <a:p>
                      <a:r>
                        <a:rPr lang="en-US" sz="1200" b="1" dirty="0"/>
                        <a:t>(HC-05)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₹350.00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53763" y="1732671"/>
            <a:ext cx="858835" cy="8588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680" y="2889204"/>
            <a:ext cx="469720" cy="5181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465" y="4142805"/>
            <a:ext cx="1410158" cy="14101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180" y="3657600"/>
            <a:ext cx="850720" cy="85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0" y="76320"/>
            <a:ext cx="9143640" cy="4568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Bookman Old Style" panose="02050604050505020204" pitchFamily="18" charset="0"/>
              </a:rPr>
              <a:t>REFERENCES</a:t>
            </a:r>
            <a:endParaRPr sz="1400" dirty="0">
              <a:latin typeface="Bookman Old Style" panose="02050604050505020204" pitchFamily="18" charset="0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457200" y="6477120"/>
            <a:ext cx="632412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100" b="1">
                <a:solidFill>
                  <a:srgbClr val="FFFFFF"/>
                </a:solidFill>
                <a:latin typeface="Bookman Old Style" panose="02050604050505020204" pitchFamily="18" charset="0"/>
              </a:rPr>
              <a:t>03/04/14                                      Department of Electronics Engineering, YCCE, Nagpur</a:t>
            </a:r>
            <a:endParaRPr sz="1400">
              <a:latin typeface="Bookman Old Style" panose="02050604050505020204" pitchFamily="18" charset="0"/>
            </a:endParaRPr>
          </a:p>
        </p:txBody>
      </p:sp>
      <p:sp>
        <p:nvSpPr>
          <p:cNvPr id="101" name="TextShape 3"/>
          <p:cNvSpPr txBox="1"/>
          <p:nvPr/>
        </p:nvSpPr>
        <p:spPr>
          <a:xfrm>
            <a:off x="6553080" y="64771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D42AE832-BF43-44C7-99FB-FD2B3D12D580}" type="slidenum">
              <a:rPr lang="en-IN" sz="1100" b="1">
                <a:solidFill>
                  <a:srgbClr val="FFFFFF"/>
                </a:solidFill>
                <a:latin typeface="Bookman Old Style" panose="02050604050505020204" pitchFamily="18" charset="0"/>
              </a:rPr>
            </a:fld>
            <a:endParaRPr sz="1400">
              <a:latin typeface="Bookman Old Style" panose="02050604050505020204" pitchFamily="18" charset="0"/>
            </a:endParaRPr>
          </a:p>
        </p:txBody>
      </p:sp>
      <p:sp>
        <p:nvSpPr>
          <p:cNvPr id="102" name="TextShape 4"/>
          <p:cNvSpPr txBox="1"/>
          <p:nvPr/>
        </p:nvSpPr>
        <p:spPr>
          <a:xfrm>
            <a:off x="609480" y="609480"/>
            <a:ext cx="8000640" cy="579096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endParaRPr sz="1400"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</a:pPr>
            <a:endParaRPr sz="1400">
              <a:latin typeface="Bookman Old Style" panose="02050604050505020204" pitchFamily="18" charset="0"/>
            </a:endParaRPr>
          </a:p>
        </p:txBody>
      </p:sp>
      <p:sp>
        <p:nvSpPr>
          <p:cNvPr id="103" name="TextShape 5"/>
          <p:cNvSpPr txBox="1"/>
          <p:nvPr/>
        </p:nvSpPr>
        <p:spPr>
          <a:xfrm>
            <a:off x="333360" y="1047600"/>
            <a:ext cx="8467200" cy="49464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[1] Takeshi Hasegawa, .</a:t>
            </a:r>
            <a:r>
              <a:rPr lang="en-US" dirty="0" err="1"/>
              <a:t>Michizo</a:t>
            </a:r>
            <a:r>
              <a:rPr lang="en-US" dirty="0"/>
              <a:t> Yamanaka, “Hand-piece with built-in camera and dental treatment method”, E.P. Patent 2891467 A1, July 08, 2015.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sz="1400" dirty="0">
                <a:latin typeface="Bookman Old Style" panose="02050604050505020204" pitchFamily="18" charset="0"/>
              </a:rPr>
              <a:t>                                  </a:t>
            </a:r>
            <a:r>
              <a:rPr lang="en-US" sz="1400" dirty="0">
                <a:latin typeface="+mj-lt"/>
                <a:hlinkClick r:id="rId1"/>
              </a:rPr>
              <a:t>https://patents.google.com/patent/EP2891467A1/en</a:t>
            </a:r>
            <a:endParaRPr lang="en-US" sz="1400" dirty="0">
              <a:latin typeface="+mj-lt"/>
            </a:endParaRPr>
          </a:p>
          <a:p>
            <a:pPr>
              <a:lnSpc>
                <a:spcPct val="90000"/>
              </a:lnSpc>
            </a:pPr>
            <a:endParaRPr lang="en-US" sz="1400" dirty="0">
              <a:latin typeface="+mj-lt"/>
            </a:endParaRPr>
          </a:p>
          <a:p>
            <a:pPr>
              <a:lnSpc>
                <a:spcPct val="90000"/>
              </a:lnSpc>
            </a:pPr>
            <a:endParaRPr sz="1400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dirty="0"/>
              <a:t>[2] John Jesus Rodriquez, Jr, “ Camera Viewing Attachment &amp; Display System for Low Speed Dental Hand-piece”,U.S.Patent10306124B1,May28,2019.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1400" dirty="0"/>
              <a:t>                                        </a:t>
            </a:r>
            <a:r>
              <a:rPr lang="en-US" sz="1400" dirty="0">
                <a:hlinkClick r:id="rId2"/>
              </a:rPr>
              <a:t>https://patents.google.com/patent/US10306124B1/ene</a:t>
            </a: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dirty="0"/>
              <a:t>[3] John S </a:t>
            </a:r>
            <a:r>
              <a:rPr lang="en-US" dirty="0" err="1"/>
              <a:t>Seney</a:t>
            </a:r>
            <a:r>
              <a:rPr lang="en-US" dirty="0"/>
              <a:t>, “Dental bur cooling system”, U.S. Patent 5096421 A, March 17, 1992.                        </a:t>
            </a:r>
            <a:r>
              <a:rPr lang="en-US" sz="1400" dirty="0">
                <a:hlinkClick r:id="rId3"/>
              </a:rPr>
              <a:t>https://patents.google.com/patent/US5096421A/en</a:t>
            </a: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</a:pPr>
            <a:endParaRPr lang="en-US" sz="1400" dirty="0"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/>
              <a:t>[4] Johann Hain, Ulf Stein, ”Dental hand-piece with image transfer device” A.T. Patent 396740 B, November 25, 1993 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1400" dirty="0"/>
              <a:t>                                             </a:t>
            </a:r>
            <a:r>
              <a:rPr lang="en-US" sz="1400" dirty="0">
                <a:hlinkClick r:id="rId4"/>
              </a:rPr>
              <a:t>https://patents.google.com/patent/AT396740B/enB</a:t>
            </a: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76320"/>
            <a:ext cx="9143640" cy="63237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r>
              <a:rPr lang="en-IN" sz="3600" dirty="0">
                <a:latin typeface="Bookman Old Style" panose="02050604050505020204" pitchFamily="18" charset="0"/>
              </a:rPr>
              <a:t>Thank You</a:t>
            </a:r>
            <a:endParaRPr sz="360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6207</Words>
  <Application>WPS Presentation</Application>
  <PresentationFormat>On-screen Show (4:3)</PresentationFormat>
  <Paragraphs>332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SimSun</vt:lpstr>
      <vt:lpstr>Wingdings</vt:lpstr>
      <vt:lpstr>Arial Black</vt:lpstr>
      <vt:lpstr>Calibri</vt:lpstr>
      <vt:lpstr>Times New Roman</vt:lpstr>
      <vt:lpstr>StarSymbol</vt:lpstr>
      <vt:lpstr>DVI-TTYogesh</vt:lpstr>
      <vt:lpstr>Arial</vt:lpstr>
      <vt:lpstr>Bookman Old Style</vt:lpstr>
      <vt:lpstr>Algerian</vt:lpstr>
      <vt:lpstr>Times New Roman</vt:lpstr>
      <vt:lpstr>Microsoft YaHei</vt:lpstr>
      <vt:lpstr>Arial Unicode MS</vt:lpstr>
      <vt:lpstr>DejaVu Sans</vt:lpstr>
      <vt:lpstr>Calibri</vt:lpstr>
      <vt:lpstr>Arial Black</vt:lpstr>
      <vt:lpstr>Office Theme</vt:lpstr>
      <vt:lpstr>Office Theme</vt:lpstr>
      <vt:lpstr>PowerPoint 演示文稿</vt:lpstr>
      <vt:lpstr>PowerPoint 演示文稿</vt:lpstr>
      <vt:lpstr>PowerPoint 演示文稿</vt:lpstr>
      <vt:lpstr>Literature Survey</vt:lpstr>
      <vt:lpstr>Literature Survey </vt:lpstr>
      <vt:lpstr>PowerPoint 演示文稿</vt:lpstr>
      <vt:lpstr>Problem  Statement </vt:lpstr>
      <vt:lpstr>                                           Problem  Statement</vt:lpstr>
      <vt:lpstr>PowerPoint 演示文稿</vt:lpstr>
      <vt:lpstr>Airotor with Micro-Camera Device </vt:lpstr>
      <vt:lpstr>Construction of Micro-Camera Device</vt:lpstr>
      <vt:lpstr>Working of Micro-Camera Device </vt:lpstr>
      <vt:lpstr>PowerPoint 演示文稿</vt:lpstr>
      <vt:lpstr>Budget</vt:lpstr>
      <vt:lpstr>Execution Plan</vt:lpstr>
      <vt:lpstr>Component list &amp; Estimated cost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Bhushan Khandekar</cp:lastModifiedBy>
  <cp:revision>64</cp:revision>
  <dcterms:created xsi:type="dcterms:W3CDTF">2021-10-22T04:43:00Z</dcterms:created>
  <dcterms:modified xsi:type="dcterms:W3CDTF">2021-10-22T06:49:48Z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97CA583AA443476AB96B6FA091C04C78</vt:lpwstr>
  </property>
  <property fmtid="{D5CDD505-2E9C-101B-9397-08002B2CF9AE}" pid="3" name="KSOProductBuildVer">
    <vt:lpwstr>1033-11.2.0.10307</vt:lpwstr>
  </property>
</Properties>
</file>